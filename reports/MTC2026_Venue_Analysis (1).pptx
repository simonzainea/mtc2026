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  <p:sldId id="268" r:id="rId12"/>
    <p:sldId id="266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03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Arial"/>
              </a:rPr>
              <a:t>Avg Gross Ticket Revenue / Show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Majestic Theatre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19844</c:v>
                </c:pt>
                <c:pt idx="1">
                  <c:v>26377</c:v>
                </c:pt>
                <c:pt idx="2">
                  <c:v>32329</c:v>
                </c:pt>
                <c:pt idx="3">
                  <c:v>28054</c:v>
                </c:pt>
                <c:pt idx="4">
                  <c:v>31201</c:v>
                </c:pt>
                <c:pt idx="5">
                  <c:v>38470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F0-8040-A963-8F31A62A0C4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Magic Stick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12582</c:v>
                </c:pt>
                <c:pt idx="1">
                  <c:v>13858</c:v>
                </c:pt>
                <c:pt idx="2">
                  <c:v>10010</c:v>
                </c:pt>
                <c:pt idx="3">
                  <c:v>12597</c:v>
                </c:pt>
                <c:pt idx="4">
                  <c:v>13252</c:v>
                </c:pt>
                <c:pt idx="5">
                  <c:v>19446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1F0-8040-A963-8F31A62A0C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575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575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Arial"/>
              </a:rPr>
              <a:t>Avg Capacity Rate by Year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Majestic Theatre</c:v>
                </c:pt>
              </c:strCache>
            </c:strRef>
          </c:tx>
          <c:spPr>
            <a:ln w="25400" cap="flat">
              <a:solidFill>
                <a:srgbClr val="2E75B6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0.61</c:v>
                </c:pt>
                <c:pt idx="1">
                  <c:v>0.7</c:v>
                </c:pt>
                <c:pt idx="2">
                  <c:v>0.78</c:v>
                </c:pt>
                <c:pt idx="3">
                  <c:v>0.6</c:v>
                </c:pt>
                <c:pt idx="4">
                  <c:v>0.62</c:v>
                </c:pt>
                <c:pt idx="5">
                  <c:v>0.82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C5F-4D40-89BC-6094B3798F0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Magic Stick</c:v>
                </c:pt>
              </c:strCache>
            </c:strRef>
          </c:tx>
          <c:spPr>
            <a:ln w="25400" cap="flat">
              <a:solidFill>
                <a:srgbClr val="ED7D3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ED7D31"/>
              </a:solidFill>
              <a:ln w="9525" cap="flat">
                <a:solidFill>
                  <a:srgbClr val="ED7D3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0.62</c:v>
                </c:pt>
                <c:pt idx="1">
                  <c:v>0.6</c:v>
                </c:pt>
                <c:pt idx="2">
                  <c:v>0.44</c:v>
                </c:pt>
                <c:pt idx="3">
                  <c:v>0.51</c:v>
                </c:pt>
                <c:pt idx="4">
                  <c:v>0.5</c:v>
                </c:pt>
                <c:pt idx="5">
                  <c:v>0.69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C5F-4D40-89BC-6094B3798F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575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575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1A1A"/>
                </a:solidFill>
                <a:latin typeface="Arial"/>
              </a:rPr>
              <a:t>Show Count by Day of Week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Magic Stick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15</c:v>
                </c:pt>
                <c:pt idx="1">
                  <c:v>12</c:v>
                </c:pt>
                <c:pt idx="2">
                  <c:v>25</c:v>
                </c:pt>
                <c:pt idx="3">
                  <c:v>33</c:v>
                </c:pt>
                <c:pt idx="4">
                  <c:v>142</c:v>
                </c:pt>
                <c:pt idx="5">
                  <c:v>138</c:v>
                </c:pt>
                <c:pt idx="6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55-0145-8515-793473949EB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Majestic Theatre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23</c:v>
                </c:pt>
                <c:pt idx="1">
                  <c:v>48</c:v>
                </c:pt>
                <c:pt idx="2">
                  <c:v>63</c:v>
                </c:pt>
                <c:pt idx="3">
                  <c:v>73</c:v>
                </c:pt>
                <c:pt idx="4">
                  <c:v>83</c:v>
                </c:pt>
                <c:pt idx="5">
                  <c:v>105</c:v>
                </c:pt>
                <c:pt idx="6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F55-0145-8515-793473949E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575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575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1A1A"/>
                </a:solidFill>
                <a:latin typeface="Arial"/>
              </a:rPr>
              <a:t>Avg Bar Revenue by Day of Week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Bar Revenue ($)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7303</c:v>
                </c:pt>
                <c:pt idx="1">
                  <c:v>8170</c:v>
                </c:pt>
                <c:pt idx="2">
                  <c:v>6778</c:v>
                </c:pt>
                <c:pt idx="3">
                  <c:v>7639</c:v>
                </c:pt>
                <c:pt idx="4">
                  <c:v>9391</c:v>
                </c:pt>
                <c:pt idx="5">
                  <c:v>9251</c:v>
                </c:pt>
                <c:pt idx="6">
                  <c:v>6678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A3-A046-8879-5CE5B378899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575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575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A1A1A"/>
                </a:solidFill>
                <a:latin typeface="Arial"/>
              </a:rPr>
              <a:t>Avg Capacity Rate by Genre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Capacity Rate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Hip-Hop/R&amp;B</c:v>
                </c:pt>
                <c:pt idx="1">
                  <c:v>Pop</c:v>
                </c:pt>
                <c:pt idx="2">
                  <c:v>Rock</c:v>
                </c:pt>
                <c:pt idx="3">
                  <c:v>Country</c:v>
                </c:pt>
                <c:pt idx="4">
                  <c:v>Metal</c:v>
                </c:pt>
                <c:pt idx="5">
                  <c:v>Electronic</c:v>
                </c:pt>
                <c:pt idx="6">
                  <c:v>Comedy</c:v>
                </c:pt>
                <c:pt idx="7">
                  <c:v>Jazz/Soul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0.67</c:v>
                </c:pt>
                <c:pt idx="1">
                  <c:v>0.65</c:v>
                </c:pt>
                <c:pt idx="2">
                  <c:v>0.65</c:v>
                </c:pt>
                <c:pt idx="3">
                  <c:v>0.65</c:v>
                </c:pt>
                <c:pt idx="4">
                  <c:v>0.62</c:v>
                </c:pt>
                <c:pt idx="5">
                  <c:v>0.57999999999999996</c:v>
                </c:pt>
                <c:pt idx="6">
                  <c:v>0.56000000000000005</c:v>
                </c:pt>
                <c:pt idx="7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1F-E24D-AAC4-36E8552482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575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575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9621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Majestic Theatre Centre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Performance Analysis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Majestic Theatre (AEG) vs. Magic Stick (In-House)  |  2019 &amp; 2022–2026  |  845 Shows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1247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Majestic Theatre: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2514600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AEG-booked | 1,100 capacity | 446 shows analyzed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Stick: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34640" y="3063240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booked | 775 capacity | 399 shows analyzed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covered: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3611880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(pre-COVID baseline) + 2022–2026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coverage: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4160520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genres tagged across 845 shows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Comparison — Key Metrics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Per-show averages across all available years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794760" y="13716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Majestic Theatre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89320" y="13716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Stick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183880" y="13716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1115568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32918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7373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Capacity Rate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040" y="1691640"/>
            <a:ext cx="21945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94760" y="17373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1691640"/>
            <a:ext cx="21945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89320" y="17373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38160" y="1691640"/>
            <a:ext cx="338328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83880" y="17373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Majestic fills more seats per show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167128"/>
            <a:ext cx="32918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2128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Gross Ticket Revenue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49040" y="2167128"/>
            <a:ext cx="2194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94760" y="22128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$28,204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0" y="2167128"/>
            <a:ext cx="2194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89320" y="22128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$13,031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38160" y="2167128"/>
            <a:ext cx="3383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183880" y="22128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Majestic ~2x — larger venue, bigger acts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642616"/>
            <a:ext cx="32918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26883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Bar Revenue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49040" y="2642616"/>
            <a:ext cx="21945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794760" y="26883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$8,383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2642616"/>
            <a:ext cx="21945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89320" y="268833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$8,440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38160" y="2642616"/>
            <a:ext cx="338328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183880" y="26883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identical despite different venue size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118104"/>
            <a:ext cx="32918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" y="31638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Alcohol $/Guest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749040" y="3118104"/>
            <a:ext cx="2194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794760" y="31638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$21.61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43600" y="3118104"/>
            <a:ext cx="2194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989320" y="316382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$20.69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138160" y="3118104"/>
            <a:ext cx="3383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183880" y="31638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per-capita spend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3593592"/>
            <a:ext cx="32918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02920" y="36393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Band Guarantee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749040" y="3593592"/>
            <a:ext cx="21945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794760" y="36393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$14,239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943600" y="3593592"/>
            <a:ext cx="21945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989320" y="36393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$7,699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138160" y="3593592"/>
            <a:ext cx="338328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183880" y="36393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 books higher-cost talent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4069080"/>
            <a:ext cx="32918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02920" y="41148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Loss-Making Shows (gate)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749040" y="4069080"/>
            <a:ext cx="2194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794760" y="41148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35.7%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943600" y="4069080"/>
            <a:ext cx="2194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989320" y="41148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52.9%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138160" y="4069080"/>
            <a:ext cx="3383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183880" y="41148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Stick loses gate on more shows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7200" y="4983480"/>
            <a:ext cx="11247120" cy="59436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94360" y="504748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Bar revenue is nearly identical across both venues ($8,383 vs $8,440) despite Majestic being 42% larger — Magic Stick generates equivalent bar volume with fewer people in the room.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Comparison — After AEG Revenue Split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MTC actually keeps per show after applying the 50/30 partner arrangement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303520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Majestic Theatre (MTC Share)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 gate + 70% of bar retained by MTC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50292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Gate Settlement (MTC 50%)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35915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$4,156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9436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Bar Revenue (MTC 70%)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1363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$5,868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9436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Show Gross Proceeds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91363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$5,755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035040" y="1325880"/>
            <a:ext cx="5669280" cy="33832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72200" y="14173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Stick (100% retained)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169164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partner split — MTC keeps all revenue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1965960"/>
            <a:ext cx="53949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7220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Gate Settlement (100%)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235915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$1,061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17220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Bar Revenue (100%)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72200" y="313639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$8,440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7220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Show Gross Proceeds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391363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$9,283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457200" y="4846320"/>
            <a:ext cx="11247120" cy="1005840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" y="4910328"/>
            <a:ext cx="109728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Magic Stick generates 61% more gross proceeds per show for MTC ($9,283 vs $5,755). After applying a 28% bar cost estimate (matching Majestic's documented rate), Magic Stick still leads by ~23%. The in-house model captures revenue the AEG arrangement shares with a partner. Both models offer distinct advantages — Majestic benefits from AEG's booking infrastructure and national act relationships.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pre-COVID baseline vs. 2022–2026 recovery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325880"/>
          <a:ext cx="68580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7498080" y="1325880"/>
          <a:ext cx="43891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Majestic: steady growth post-COVID — ticket revenue up 94% from 2019 to 2026, capacity rates hitting 82% in 2026. Magic Stick: softer capacity recovery (dip to 44% in 2023) but strong 2026 uptick to 69%.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Pre-COVID Baseline vs. Post-COVID Recovery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performance benchmarked against 2022–2026 averages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429000" y="1371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Majestic 2019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166360" y="1371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Majestic 2022+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03720" y="1371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Stick 2019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41080" y="13716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Stick 2022+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1115568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719072"/>
            <a:ext cx="292608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17647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Capacity Rate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1719072"/>
            <a:ext cx="17373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29000" y="17647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20640" y="1719072"/>
            <a:ext cx="17373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66360" y="17647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1719072"/>
            <a:ext cx="17373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03720" y="17647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595360" y="1719072"/>
            <a:ext cx="17373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41080" y="17647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221992"/>
            <a:ext cx="2926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22677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Gross Ticket Revenue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2221992"/>
            <a:ext cx="1737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429000" y="22677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$19,844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20640" y="2221992"/>
            <a:ext cx="1737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66360" y="22677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$30,023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0" y="2221992"/>
            <a:ext cx="1737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903720" y="22677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$12,582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595360" y="2221992"/>
            <a:ext cx="1737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41080" y="22677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$13,111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2724912"/>
            <a:ext cx="292608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" y="27706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Bar Revenue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83280" y="2724912"/>
            <a:ext cx="17373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429000" y="27706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$5,651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120640" y="2724912"/>
            <a:ext cx="17373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166360" y="27706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$9,007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58000" y="2724912"/>
            <a:ext cx="17373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903720" y="27706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$8,582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595360" y="2724912"/>
            <a:ext cx="17373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641080" y="27706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$8,413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3227832"/>
            <a:ext cx="2926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2920" y="32735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Alcohol $/Guest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383280" y="3227832"/>
            <a:ext cx="1737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429000" y="32735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$9.42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120640" y="3227832"/>
            <a:ext cx="1737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166360" y="32735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$24.27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858000" y="3227832"/>
            <a:ext cx="1737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903720" y="32735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$16.79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595360" y="3227832"/>
            <a:ext cx="1737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641080" y="32735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$21.39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" y="384048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Majestic post-COVID: ticket revenue +51%, bar revenue +59%, alcohol/guest +157%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" y="4224528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Magic Stick: capacity rates declined post-COVID but alcohol spend per guest up 27%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57200" y="4608576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Majestic's alcohol/guest figure jumped from $9.42 to $24.27 — most striking shift in the dataset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Loss-Making Shows &amp; Bar Revenue Offset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losses are common — bar revenue covers them at both venues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0604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356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Stick — Loss Rate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6733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52.9%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216712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 of 399 shows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0604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14356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Majestic — Loss Rate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16733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35.7%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83280" y="216712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 of 446 shows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1325880"/>
            <a:ext cx="260604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72200" y="14356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Stick avg gate loss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16733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$(2,414)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72200" y="216712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offset: $5,455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823960" y="1325880"/>
            <a:ext cx="260604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961120" y="14356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Majestic avg gate loss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961120" y="16733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$(4,916)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961120" y="216712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offset: $5,642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498080" y="27889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Bar revenue more than doubles the avg gate loss at Magic Stick (2.3x coverage)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498080" y="335584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Majestic bar barely covers gate losses — thin cushion, ~$726 net positive on average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498080" y="39227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Pop is the only genre where bar revenue does NOT cover average gate losses (net -$1,822)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498080" y="448970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Electronic/Dance has highest gate loss rate (51.9%) but bar covers by 2.3x</a:t>
            </a:r>
            <a:endParaRPr lang="en-US" sz="10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039AAB2-1DCB-B266-7C34-039033819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90389"/>
            <a:ext cx="6629400" cy="32470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Festival Weekend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Memorial Day weekend — the single biggest revenue driver of the year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0604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356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Shows in Dataset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6733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216712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2019–2026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0604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14356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Capacity Rate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16733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83280" y="216712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60% rest of year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1325880"/>
            <a:ext cx="260604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72200" y="14356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Gross Ticket Revenue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16733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$36,764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72200" y="216712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$20,539 rest of year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823960" y="1325880"/>
            <a:ext cx="260604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961120" y="14356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Bar Revenue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961120" y="16733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$16,352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961120" y="216712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$8,154 rest of year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651760"/>
            <a:ext cx="685800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272491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Weekend Shows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0906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" y="30906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14600" y="30906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" y="3383280"/>
            <a:ext cx="658368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3520440"/>
            <a:ext cx="640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35661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97280" y="3520440"/>
            <a:ext cx="1371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143000" y="35661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Stick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68880" y="3520440"/>
            <a:ext cx="46634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514600" y="35661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Walker And Royce / Detroit Love / Origins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995928"/>
            <a:ext cx="64008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2920" y="40416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97280" y="3995928"/>
            <a:ext cx="137160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143000" y="40416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Stick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468880" y="3995928"/>
            <a:ext cx="46634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514600" y="40416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Von Stroke / Shiba San / Inner City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471416"/>
            <a:ext cx="640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02920" y="451713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097280" y="4471416"/>
            <a:ext cx="1371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143000" y="45171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Stick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468880" y="4471416"/>
            <a:ext cx="46634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514600" y="45171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Fresch / Meduza / Kevin Saunderson / In The Mood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946904"/>
            <a:ext cx="64008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2920" y="499262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097280" y="4946904"/>
            <a:ext cx="137160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143000" y="499262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Stick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468880" y="4946904"/>
            <a:ext cx="46634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514600" y="499262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Styler / Defected / Odd Mob / Repopulate Mars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" y="5422392"/>
            <a:ext cx="6400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02920" y="54681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097280" y="5422392"/>
            <a:ext cx="13716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1143000" y="54681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Stick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468880" y="5422392"/>
            <a:ext cx="46634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514600" y="54681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Lorenzo / Odd Mob / Kevin Saunderson / Repopulate Mars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498080" y="2651760"/>
            <a:ext cx="4480560" cy="34747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635240" y="27249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vs. Rest of Year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7498080" y="3044952"/>
            <a:ext cx="182880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543800" y="311810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9326880" y="3044952"/>
            <a:ext cx="118872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9372600" y="31181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0515600" y="3044952"/>
            <a:ext cx="118872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0561320" y="31181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635240" y="3447288"/>
            <a:ext cx="40233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7498080" y="3520440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7543800" y="359359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Rate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9326880" y="3520440"/>
            <a:ext cx="1188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9372600" y="35935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101%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10515600" y="3520440"/>
            <a:ext cx="1188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10561320" y="359359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498080" y="3995928"/>
            <a:ext cx="182880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7543800" y="40690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Revenue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9326880" y="3995928"/>
            <a:ext cx="118872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9372600" y="4069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$36,764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0515600" y="3995928"/>
            <a:ext cx="118872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10561320" y="406908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$20,539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7498080" y="4471416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7543800" y="45445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Revenue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9326880" y="4471416"/>
            <a:ext cx="1188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9372600" y="45445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$16,352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10515600" y="4471416"/>
            <a:ext cx="1188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10561320" y="45445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$8,154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7498080" y="4946904"/>
            <a:ext cx="182880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7543800" y="50200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$/Guest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9326880" y="4946904"/>
            <a:ext cx="118872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9372600" y="50200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$18.88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10515600" y="4946904"/>
            <a:ext cx="118872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10561320" y="502005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$21.25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Alcohol/guest is slightly lower during Movement despite higher crowds — volume (not per-cap) drives bar revenue. Booked exclusively by Paxahau (Tom Pattyn).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 &amp; Seasonal Patterns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distribution and revenue performance by 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325880"/>
          <a:ext cx="56692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6309360" y="1325880"/>
          <a:ext cx="56692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983480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Magic Stick is predominantly a Fri/Sat venue (280 of 399 shows, 70%)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5367528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Majestic books heavily midweek (Tue–Thu: 184 shows) — AEG's draw enables weeknight bookings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5751576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Friday and Saturday generate highest bar revenue ($9,391 / $9,251) — peak drinking nights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135624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Tuesday has the highest avg capacity rate (68%) — likely selective, well-curated midweek bookings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Analysis — Performance by Music Type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rates, revenue, and drinking behavior by genre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325880"/>
          <a:ext cx="53035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Image 0" descr="/home/claude/mtc_pptx/alcohol_by_gen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325880"/>
            <a:ext cx="6035040" cy="2926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44348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2697480" y="4434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Rate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794760" y="44348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Gate Loss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623560" y="443484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Bar Revenue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8001000" y="44348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covers losses?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57200" y="4727448"/>
            <a:ext cx="1115568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57200" y="4773168"/>
            <a:ext cx="21945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02920" y="48188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Electronic/Dance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651760" y="4773168"/>
            <a:ext cx="109728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2697480" y="48188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51.9%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749040" y="4773168"/>
            <a:ext cx="182880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3794760" y="48188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$(2,837)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577840" y="4773168"/>
            <a:ext cx="23774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5623560" y="48188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$6,529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7955280" y="4773168"/>
            <a:ext cx="338328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8001000" y="48188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2.3x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57200" y="5093208"/>
            <a:ext cx="2194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02920" y="51389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Metal/Hard Rock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2651760" y="5093208"/>
            <a:ext cx="1097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2697480" y="51389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45.2%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749040" y="5093208"/>
            <a:ext cx="1828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3794760" y="51389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$(4,674)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5577840" y="5093208"/>
            <a:ext cx="23774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5623560" y="51389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$5,519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7955280" y="5093208"/>
            <a:ext cx="3383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8001000" y="51389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$844 net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457200" y="5413248"/>
            <a:ext cx="21945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502920" y="54589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Country/Americana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2651760" y="5413248"/>
            <a:ext cx="109728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2"/>
          <p:cNvSpPr/>
          <p:nvPr/>
        </p:nvSpPr>
        <p:spPr>
          <a:xfrm>
            <a:off x="2697480" y="5458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42.1%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3749040" y="5413248"/>
            <a:ext cx="182880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4"/>
          <p:cNvSpPr/>
          <p:nvPr/>
        </p:nvSpPr>
        <p:spPr>
          <a:xfrm>
            <a:off x="3794760" y="545896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$(5,502)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5577840" y="5413248"/>
            <a:ext cx="23774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6"/>
          <p:cNvSpPr/>
          <p:nvPr/>
        </p:nvSpPr>
        <p:spPr>
          <a:xfrm>
            <a:off x="5623560" y="54589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$8,090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7955280" y="5413248"/>
            <a:ext cx="338328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8"/>
          <p:cNvSpPr/>
          <p:nvPr/>
        </p:nvSpPr>
        <p:spPr>
          <a:xfrm>
            <a:off x="8001000" y="545896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$2,588 net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457200" y="5733288"/>
            <a:ext cx="2194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0"/>
          <p:cNvSpPr/>
          <p:nvPr/>
        </p:nvSpPr>
        <p:spPr>
          <a:xfrm>
            <a:off x="502920" y="57790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2651760" y="5733288"/>
            <a:ext cx="1097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/>
          <p:nvPr/>
        </p:nvSpPr>
        <p:spPr>
          <a:xfrm>
            <a:off x="2697480" y="577900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37.8%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3749040" y="5733288"/>
            <a:ext cx="1828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4"/>
          <p:cNvSpPr/>
          <p:nvPr/>
        </p:nvSpPr>
        <p:spPr>
          <a:xfrm>
            <a:off x="3794760" y="57790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$(3,967)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5577840" y="5733288"/>
            <a:ext cx="23774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6"/>
          <p:cNvSpPr/>
          <p:nvPr/>
        </p:nvSpPr>
        <p:spPr>
          <a:xfrm>
            <a:off x="5623560" y="57790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$4,801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7955280" y="5733288"/>
            <a:ext cx="3383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8"/>
          <p:cNvSpPr/>
          <p:nvPr/>
        </p:nvSpPr>
        <p:spPr>
          <a:xfrm>
            <a:off x="8001000" y="57790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$834 net</a:t>
            </a:r>
            <a:endParaRPr lang="en-US" sz="1000" dirty="0"/>
          </a:p>
        </p:txBody>
      </p:sp>
      <p:sp>
        <p:nvSpPr>
          <p:cNvPr id="53" name="Shape 49"/>
          <p:cNvSpPr/>
          <p:nvPr/>
        </p:nvSpPr>
        <p:spPr>
          <a:xfrm>
            <a:off x="457200" y="6053328"/>
            <a:ext cx="21945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/>
          <p:nvPr/>
        </p:nvSpPr>
        <p:spPr>
          <a:xfrm>
            <a:off x="502920" y="60990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</a:t>
            </a:r>
            <a:endParaRPr lang="en-US" sz="1000" dirty="0"/>
          </a:p>
        </p:txBody>
      </p:sp>
      <p:sp>
        <p:nvSpPr>
          <p:cNvPr id="55" name="Shape 51"/>
          <p:cNvSpPr/>
          <p:nvPr/>
        </p:nvSpPr>
        <p:spPr>
          <a:xfrm>
            <a:off x="2651760" y="6053328"/>
            <a:ext cx="109728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2"/>
          <p:cNvSpPr/>
          <p:nvPr/>
        </p:nvSpPr>
        <p:spPr>
          <a:xfrm>
            <a:off x="2697480" y="60990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37.5%</a:t>
            </a:r>
            <a:endParaRPr lang="en-US" sz="1000" dirty="0"/>
          </a:p>
        </p:txBody>
      </p:sp>
      <p:sp>
        <p:nvSpPr>
          <p:cNvPr id="57" name="Shape 53"/>
          <p:cNvSpPr/>
          <p:nvPr/>
        </p:nvSpPr>
        <p:spPr>
          <a:xfrm>
            <a:off x="3749040" y="6053328"/>
            <a:ext cx="182880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4"/>
          <p:cNvSpPr/>
          <p:nvPr/>
        </p:nvSpPr>
        <p:spPr>
          <a:xfrm>
            <a:off x="3794760" y="6099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$(5,216)</a:t>
            </a:r>
            <a:endParaRPr lang="en-US" sz="1000" dirty="0"/>
          </a:p>
        </p:txBody>
      </p:sp>
      <p:sp>
        <p:nvSpPr>
          <p:cNvPr id="59" name="Shape 55"/>
          <p:cNvSpPr/>
          <p:nvPr/>
        </p:nvSpPr>
        <p:spPr>
          <a:xfrm>
            <a:off x="5577840" y="6053328"/>
            <a:ext cx="237744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6"/>
          <p:cNvSpPr/>
          <p:nvPr/>
        </p:nvSpPr>
        <p:spPr>
          <a:xfrm>
            <a:off x="5623560" y="60990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$3,394</a:t>
            </a:r>
            <a:endParaRPr lang="en-US" sz="1000" dirty="0"/>
          </a:p>
        </p:txBody>
      </p:sp>
      <p:sp>
        <p:nvSpPr>
          <p:cNvPr id="61" name="Shape 57"/>
          <p:cNvSpPr/>
          <p:nvPr/>
        </p:nvSpPr>
        <p:spPr>
          <a:xfrm>
            <a:off x="7955280" y="6053328"/>
            <a:ext cx="338328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8"/>
          <p:cNvSpPr/>
          <p:nvPr/>
        </p:nvSpPr>
        <p:spPr>
          <a:xfrm>
            <a:off x="8001000" y="60990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$(1,822) net</a:t>
            </a:r>
            <a:endParaRPr lang="en-US" sz="1000" dirty="0"/>
          </a:p>
        </p:txBody>
      </p:sp>
      <p:sp>
        <p:nvSpPr>
          <p:cNvPr id="63" name="Shape 59"/>
          <p:cNvSpPr/>
          <p:nvPr/>
        </p:nvSpPr>
        <p:spPr>
          <a:xfrm>
            <a:off x="457200" y="6373368"/>
            <a:ext cx="21945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0"/>
          <p:cNvSpPr/>
          <p:nvPr/>
        </p:nvSpPr>
        <p:spPr>
          <a:xfrm>
            <a:off x="502920" y="64190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Hip-Hop/R&amp;B</a:t>
            </a:r>
            <a:endParaRPr lang="en-US" sz="1000" dirty="0"/>
          </a:p>
        </p:txBody>
      </p:sp>
      <p:sp>
        <p:nvSpPr>
          <p:cNvPr id="65" name="Shape 61"/>
          <p:cNvSpPr/>
          <p:nvPr/>
        </p:nvSpPr>
        <p:spPr>
          <a:xfrm>
            <a:off x="2651760" y="6373368"/>
            <a:ext cx="1097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2"/>
          <p:cNvSpPr/>
          <p:nvPr/>
        </p:nvSpPr>
        <p:spPr>
          <a:xfrm>
            <a:off x="2697480" y="64190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32.4%</a:t>
            </a:r>
            <a:endParaRPr lang="en-US" sz="1000" dirty="0"/>
          </a:p>
        </p:txBody>
      </p:sp>
      <p:sp>
        <p:nvSpPr>
          <p:cNvPr id="67" name="Shape 63"/>
          <p:cNvSpPr/>
          <p:nvPr/>
        </p:nvSpPr>
        <p:spPr>
          <a:xfrm>
            <a:off x="3749040" y="6373368"/>
            <a:ext cx="1828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4"/>
          <p:cNvSpPr/>
          <p:nvPr/>
        </p:nvSpPr>
        <p:spPr>
          <a:xfrm>
            <a:off x="3794760" y="64190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$(3,133)</a:t>
            </a:r>
            <a:endParaRPr lang="en-US" sz="1000" dirty="0"/>
          </a:p>
        </p:txBody>
      </p:sp>
      <p:sp>
        <p:nvSpPr>
          <p:cNvPr id="69" name="Shape 65"/>
          <p:cNvSpPr/>
          <p:nvPr/>
        </p:nvSpPr>
        <p:spPr>
          <a:xfrm>
            <a:off x="5577840" y="6373368"/>
            <a:ext cx="23774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6"/>
          <p:cNvSpPr/>
          <p:nvPr/>
        </p:nvSpPr>
        <p:spPr>
          <a:xfrm>
            <a:off x="5623560" y="6419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$3,492</a:t>
            </a:r>
            <a:endParaRPr lang="en-US" sz="1000" dirty="0"/>
          </a:p>
        </p:txBody>
      </p:sp>
      <p:sp>
        <p:nvSpPr>
          <p:cNvPr id="71" name="Shape 67"/>
          <p:cNvSpPr/>
          <p:nvPr/>
        </p:nvSpPr>
        <p:spPr>
          <a:xfrm>
            <a:off x="7955280" y="6373368"/>
            <a:ext cx="33832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8"/>
          <p:cNvSpPr/>
          <p:nvPr/>
        </p:nvSpPr>
        <p:spPr>
          <a:xfrm>
            <a:off x="8001000" y="641908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$358 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Artist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artists have played more than once — do they outperform first-time bookings?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0604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356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Artists (2+ shows)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6733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216712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767 unique artists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0604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14356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Avg Capacity Rate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16733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65.3%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83280" y="216712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60.1% first-time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35040" y="1325880"/>
            <a:ext cx="260604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72200" y="14356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Rate Advantage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16733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+5.2 pts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72200" y="216712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p-value: 0.060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823960" y="1325880"/>
            <a:ext cx="2606040" cy="118872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961120" y="14356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961120" y="16733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961120" y="216712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above 0.05 threshold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69748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REPEAT ARTISTS — BY CAPACITY RATE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29992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703320" y="29992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26280" y="29992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Rate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15000" y="29992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Ticket Revenue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909560" y="29992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Bar Revenue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104120" y="2999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Gross Proceeds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264408"/>
            <a:ext cx="114300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" y="3310128"/>
            <a:ext cx="32004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" y="33558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 Mob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0" y="3310128"/>
            <a:ext cx="82296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703320" y="33558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480560" y="3310128"/>
            <a:ext cx="118872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26280" y="33558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127%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69280" y="3310128"/>
            <a:ext cx="219456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715000" y="33558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$57,369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863840" y="3310128"/>
            <a:ext cx="219456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909560" y="33558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$23,200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0058400" y="3310128"/>
            <a:ext cx="192024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104120" y="33558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$43,734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3648456"/>
            <a:ext cx="3200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2920" y="369417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Von Stroke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657600" y="3648456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703320" y="369417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480560" y="3648456"/>
            <a:ext cx="1188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26280" y="369417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107%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669280" y="3648456"/>
            <a:ext cx="2194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715000" y="369417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$35,735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863840" y="3648456"/>
            <a:ext cx="2194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909560" y="369417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$20,973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10058400" y="3648456"/>
            <a:ext cx="1920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0104120" y="36941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$30,169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57200" y="3986784"/>
            <a:ext cx="32004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02920" y="40325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Nora En Pure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657600" y="3986784"/>
            <a:ext cx="82296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703320" y="403250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480560" y="3986784"/>
            <a:ext cx="118872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526280" y="403250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106%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669280" y="3986784"/>
            <a:ext cx="219456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715000" y="403250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$37,469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863840" y="3986784"/>
            <a:ext cx="219456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909560" y="403250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$21,226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10058400" y="3986784"/>
            <a:ext cx="192024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0104120" y="40325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$27,145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457200" y="4325112"/>
            <a:ext cx="3200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02920" y="4370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Omnom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3657600" y="4325112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703320" y="43708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4480560" y="4325112"/>
            <a:ext cx="1188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526280" y="43708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106%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5669280" y="4325112"/>
            <a:ext cx="2194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5715000" y="43708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$27,064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7863840" y="4325112"/>
            <a:ext cx="2194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909560" y="43708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$20,991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10058400" y="4325112"/>
            <a:ext cx="1920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10104120" y="4370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$29,342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457200" y="4663440"/>
            <a:ext cx="32004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502920" y="47091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Saunderson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3657600" y="4663440"/>
            <a:ext cx="82296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3703320" y="4709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4480560" y="4663440"/>
            <a:ext cx="118872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4526280" y="4709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103%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5669280" y="4663440"/>
            <a:ext cx="219456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5715000" y="47091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$41,122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7863840" y="4663440"/>
            <a:ext cx="219456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7909560" y="47091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$22,765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10058400" y="4663440"/>
            <a:ext cx="192024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10104120" y="4709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$31,194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457200" y="5001768"/>
            <a:ext cx="3200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502920" y="504748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Nora en Pure (prior)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3657600" y="5001768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3703320" y="504748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4480560" y="5001768"/>
            <a:ext cx="1188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4526280" y="504748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1050" dirty="0"/>
          </a:p>
        </p:txBody>
      </p:sp>
      <p:sp>
        <p:nvSpPr>
          <p:cNvPr id="95" name="Shape 93"/>
          <p:cNvSpPr/>
          <p:nvPr/>
        </p:nvSpPr>
        <p:spPr>
          <a:xfrm>
            <a:off x="5669280" y="5001768"/>
            <a:ext cx="2194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5715000" y="50474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$33,002</a:t>
            </a:r>
            <a:endParaRPr lang="en-US" sz="1050" dirty="0"/>
          </a:p>
        </p:txBody>
      </p:sp>
      <p:sp>
        <p:nvSpPr>
          <p:cNvPr id="97" name="Shape 95"/>
          <p:cNvSpPr/>
          <p:nvPr/>
        </p:nvSpPr>
        <p:spPr>
          <a:xfrm>
            <a:off x="7863840" y="5001768"/>
            <a:ext cx="2194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7909560" y="50474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$25,400</a:t>
            </a:r>
            <a:endParaRPr lang="en-US" sz="1050" dirty="0"/>
          </a:p>
        </p:txBody>
      </p:sp>
      <p:sp>
        <p:nvSpPr>
          <p:cNvPr id="99" name="Shape 97"/>
          <p:cNvSpPr/>
          <p:nvPr/>
        </p:nvSpPr>
        <p:spPr>
          <a:xfrm>
            <a:off x="10058400" y="5001768"/>
            <a:ext cx="1920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10104120" y="5047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$27,451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457200" y="5340096"/>
            <a:ext cx="32004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502920" y="538581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Repopulate Mars</a:t>
            </a:r>
            <a:endParaRPr lang="en-US" sz="1050" dirty="0"/>
          </a:p>
        </p:txBody>
      </p:sp>
      <p:sp>
        <p:nvSpPr>
          <p:cNvPr id="103" name="Shape 101"/>
          <p:cNvSpPr/>
          <p:nvPr/>
        </p:nvSpPr>
        <p:spPr>
          <a:xfrm>
            <a:off x="3657600" y="5340096"/>
            <a:ext cx="82296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3703320" y="538581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05" name="Shape 103"/>
          <p:cNvSpPr/>
          <p:nvPr/>
        </p:nvSpPr>
        <p:spPr>
          <a:xfrm>
            <a:off x="4480560" y="5340096"/>
            <a:ext cx="118872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4526280" y="538581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5669280" y="5340096"/>
            <a:ext cx="219456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5715000" y="53858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$31,478</a:t>
            </a:r>
            <a:endParaRPr lang="en-US" sz="1050" dirty="0"/>
          </a:p>
        </p:txBody>
      </p:sp>
      <p:sp>
        <p:nvSpPr>
          <p:cNvPr id="109" name="Shape 107"/>
          <p:cNvSpPr/>
          <p:nvPr/>
        </p:nvSpPr>
        <p:spPr>
          <a:xfrm>
            <a:off x="7863840" y="5340096"/>
            <a:ext cx="219456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7909560" y="53858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$14,092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10058400" y="5340096"/>
            <a:ext cx="192024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10104120" y="53858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$20,423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457200" y="5678424"/>
            <a:ext cx="3200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502920" y="572414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Noname</a:t>
            </a:r>
            <a:endParaRPr lang="en-US" sz="1050" dirty="0"/>
          </a:p>
        </p:txBody>
      </p:sp>
      <p:sp>
        <p:nvSpPr>
          <p:cNvPr id="115" name="Shape 113"/>
          <p:cNvSpPr/>
          <p:nvPr/>
        </p:nvSpPr>
        <p:spPr>
          <a:xfrm>
            <a:off x="3657600" y="5678424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3703320" y="572414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17" name="Shape 115"/>
          <p:cNvSpPr/>
          <p:nvPr/>
        </p:nvSpPr>
        <p:spPr>
          <a:xfrm>
            <a:off x="4480560" y="5678424"/>
            <a:ext cx="1188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4526280" y="572414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</a:t>
            </a:r>
            <a:endParaRPr lang="en-US" sz="1050" dirty="0"/>
          </a:p>
        </p:txBody>
      </p:sp>
      <p:sp>
        <p:nvSpPr>
          <p:cNvPr id="119" name="Shape 117"/>
          <p:cNvSpPr/>
          <p:nvPr/>
        </p:nvSpPr>
        <p:spPr>
          <a:xfrm>
            <a:off x="5669280" y="5678424"/>
            <a:ext cx="2194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5715000" y="572414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$28,704</a:t>
            </a:r>
            <a:endParaRPr lang="en-US" sz="1050" dirty="0"/>
          </a:p>
        </p:txBody>
      </p:sp>
      <p:sp>
        <p:nvSpPr>
          <p:cNvPr id="121" name="Shape 119"/>
          <p:cNvSpPr/>
          <p:nvPr/>
        </p:nvSpPr>
        <p:spPr>
          <a:xfrm>
            <a:off x="7863840" y="5678424"/>
            <a:ext cx="2194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7909560" y="572414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$4,348</a:t>
            </a:r>
            <a:endParaRPr lang="en-US" sz="1050" dirty="0"/>
          </a:p>
        </p:txBody>
      </p:sp>
      <p:sp>
        <p:nvSpPr>
          <p:cNvPr id="123" name="Shape 121"/>
          <p:cNvSpPr/>
          <p:nvPr/>
        </p:nvSpPr>
        <p:spPr>
          <a:xfrm>
            <a:off x="10058400" y="5678424"/>
            <a:ext cx="1920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10104120" y="57241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$12,775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457200" y="6016752"/>
            <a:ext cx="320040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502920" y="6062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Mustard Plug</a:t>
            </a:r>
            <a:endParaRPr lang="en-US" sz="1050" dirty="0"/>
          </a:p>
        </p:txBody>
      </p:sp>
      <p:sp>
        <p:nvSpPr>
          <p:cNvPr id="127" name="Shape 125"/>
          <p:cNvSpPr/>
          <p:nvPr/>
        </p:nvSpPr>
        <p:spPr>
          <a:xfrm>
            <a:off x="3657600" y="6016752"/>
            <a:ext cx="82296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3703320" y="60624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29" name="Shape 127"/>
          <p:cNvSpPr/>
          <p:nvPr/>
        </p:nvSpPr>
        <p:spPr>
          <a:xfrm>
            <a:off x="4480560" y="6016752"/>
            <a:ext cx="118872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4526280" y="60624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050" dirty="0"/>
          </a:p>
        </p:txBody>
      </p:sp>
      <p:sp>
        <p:nvSpPr>
          <p:cNvPr id="131" name="Shape 129"/>
          <p:cNvSpPr/>
          <p:nvPr/>
        </p:nvSpPr>
        <p:spPr>
          <a:xfrm>
            <a:off x="5669280" y="6016752"/>
            <a:ext cx="219456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5715000" y="60624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$16,473</a:t>
            </a:r>
            <a:endParaRPr lang="en-US" sz="1050" dirty="0"/>
          </a:p>
        </p:txBody>
      </p:sp>
      <p:sp>
        <p:nvSpPr>
          <p:cNvPr id="133" name="Shape 131"/>
          <p:cNvSpPr/>
          <p:nvPr/>
        </p:nvSpPr>
        <p:spPr>
          <a:xfrm>
            <a:off x="7863840" y="6016752"/>
            <a:ext cx="219456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 132"/>
          <p:cNvSpPr/>
          <p:nvPr/>
        </p:nvSpPr>
        <p:spPr>
          <a:xfrm>
            <a:off x="7909560" y="60624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$10,884</a:t>
            </a:r>
            <a:endParaRPr lang="en-US" sz="1050" dirty="0"/>
          </a:p>
        </p:txBody>
      </p:sp>
      <p:sp>
        <p:nvSpPr>
          <p:cNvPr id="135" name="Shape 133"/>
          <p:cNvSpPr/>
          <p:nvPr/>
        </p:nvSpPr>
        <p:spPr>
          <a:xfrm>
            <a:off x="10058400" y="6016752"/>
            <a:ext cx="192024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Text 134"/>
          <p:cNvSpPr/>
          <p:nvPr/>
        </p:nvSpPr>
        <p:spPr>
          <a:xfrm>
            <a:off x="10104120" y="60624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$15,438</a:t>
            </a:r>
            <a:endParaRPr lang="en-US" sz="1050" dirty="0"/>
          </a:p>
        </p:txBody>
      </p:sp>
      <p:sp>
        <p:nvSpPr>
          <p:cNvPr id="137" name="Shape 135"/>
          <p:cNvSpPr/>
          <p:nvPr/>
        </p:nvSpPr>
        <p:spPr>
          <a:xfrm>
            <a:off x="457200" y="6355080"/>
            <a:ext cx="3200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 136"/>
          <p:cNvSpPr/>
          <p:nvPr/>
        </p:nvSpPr>
        <p:spPr>
          <a:xfrm>
            <a:off x="502920" y="6400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Afrobeats to World</a:t>
            </a:r>
            <a:endParaRPr lang="en-US" sz="1050" dirty="0"/>
          </a:p>
        </p:txBody>
      </p:sp>
      <p:sp>
        <p:nvSpPr>
          <p:cNvPr id="139" name="Shape 137"/>
          <p:cNvSpPr/>
          <p:nvPr/>
        </p:nvSpPr>
        <p:spPr>
          <a:xfrm>
            <a:off x="3657600" y="6355080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Text 138"/>
          <p:cNvSpPr/>
          <p:nvPr/>
        </p:nvSpPr>
        <p:spPr>
          <a:xfrm>
            <a:off x="3703320" y="6400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41" name="Shape 139"/>
          <p:cNvSpPr/>
          <p:nvPr/>
        </p:nvSpPr>
        <p:spPr>
          <a:xfrm>
            <a:off x="4480560" y="6355080"/>
            <a:ext cx="1188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 140"/>
          <p:cNvSpPr/>
          <p:nvPr/>
        </p:nvSpPr>
        <p:spPr>
          <a:xfrm>
            <a:off x="4526280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050" dirty="0"/>
          </a:p>
        </p:txBody>
      </p:sp>
      <p:sp>
        <p:nvSpPr>
          <p:cNvPr id="143" name="Shape 141"/>
          <p:cNvSpPr/>
          <p:nvPr/>
        </p:nvSpPr>
        <p:spPr>
          <a:xfrm>
            <a:off x="5669280" y="6355080"/>
            <a:ext cx="2194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Text 142"/>
          <p:cNvSpPr/>
          <p:nvPr/>
        </p:nvSpPr>
        <p:spPr>
          <a:xfrm>
            <a:off x="5715000" y="6400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$16,368</a:t>
            </a:r>
            <a:endParaRPr lang="en-US" sz="1050" dirty="0"/>
          </a:p>
        </p:txBody>
      </p:sp>
      <p:sp>
        <p:nvSpPr>
          <p:cNvPr id="145" name="Shape 143"/>
          <p:cNvSpPr/>
          <p:nvPr/>
        </p:nvSpPr>
        <p:spPr>
          <a:xfrm>
            <a:off x="7863840" y="6355080"/>
            <a:ext cx="2194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7909560" y="6400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$11,072</a:t>
            </a:r>
            <a:endParaRPr lang="en-US" sz="1050" dirty="0"/>
          </a:p>
        </p:txBody>
      </p:sp>
      <p:sp>
        <p:nvSpPr>
          <p:cNvPr id="147" name="Shape 145"/>
          <p:cNvSpPr/>
          <p:nvPr/>
        </p:nvSpPr>
        <p:spPr>
          <a:xfrm>
            <a:off x="10058400" y="6355080"/>
            <a:ext cx="1920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146"/>
          <p:cNvSpPr/>
          <p:nvPr/>
        </p:nvSpPr>
        <p:spPr>
          <a:xfrm>
            <a:off x="10104120" y="6400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$15,801</a:t>
            </a:r>
            <a:endParaRPr lang="en-US" sz="1050" dirty="0"/>
          </a:p>
        </p:txBody>
      </p:sp>
      <p:sp>
        <p:nvSpPr>
          <p:cNvPr id="149" name="Text 147"/>
          <p:cNvSpPr/>
          <p:nvPr/>
        </p:nvSpPr>
        <p:spPr>
          <a:xfrm>
            <a:off x="457200" y="656539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Top repeat artists average 103% capacity vs 60% for first-timers — selective rebooking is supported by the data.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Artist Analysis — Bottom Performers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Artists who have played more than once but with low capacity rates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10 REPEAT ARTISTS — BY CAPACITY RATE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6276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703320" y="162763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26280" y="16276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Rate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15000" y="16276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Ticket Revenue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909560" y="16276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Bar Revenue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104120" y="1627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Gross Proceeds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892808"/>
            <a:ext cx="114300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1938528"/>
            <a:ext cx="32004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19842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Gays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0" y="1938528"/>
            <a:ext cx="8229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03320" y="198424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1938528"/>
            <a:ext cx="118872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26280" y="1984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0" y="1938528"/>
            <a:ext cx="21945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15000" y="1984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$5,686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863840" y="1938528"/>
            <a:ext cx="21945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909560" y="19842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$1,916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058400" y="1938528"/>
            <a:ext cx="192024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104120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$3,802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2322576"/>
            <a:ext cx="3200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23682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Spencer Brown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0" y="2322576"/>
            <a:ext cx="822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703320" y="236829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80560" y="2322576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26280" y="23682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0" y="2322576"/>
            <a:ext cx="2194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715000" y="23682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$3,153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863840" y="2322576"/>
            <a:ext cx="2194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909560" y="23682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$3,529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058400" y="2322576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104120" y="2368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$3,341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2706624"/>
            <a:ext cx="32004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2920" y="27523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Doty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0" y="2706624"/>
            <a:ext cx="8229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703320" y="275234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480560" y="2706624"/>
            <a:ext cx="118872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26280" y="27523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669280" y="2706624"/>
            <a:ext cx="21945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715000" y="27523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$3,779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863840" y="2706624"/>
            <a:ext cx="21945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909560" y="27523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$3,552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0058400" y="2706624"/>
            <a:ext cx="192024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0104120" y="27523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$3,666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" y="3090672"/>
            <a:ext cx="3200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02920" y="3136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Features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657600" y="3090672"/>
            <a:ext cx="822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703320" y="3136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480560" y="3090672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526280" y="31363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669280" y="3090672"/>
            <a:ext cx="2194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715000" y="31363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$4,943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863840" y="3090672"/>
            <a:ext cx="2194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909560" y="31363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$3,129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0058400" y="3090672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0104120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$4,036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57200" y="3474720"/>
            <a:ext cx="32004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02920" y="3520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Miss Nasty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657600" y="3474720"/>
            <a:ext cx="8229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703320" y="3520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480560" y="3474720"/>
            <a:ext cx="118872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526280" y="3520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669280" y="3474720"/>
            <a:ext cx="21945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715000" y="3520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$7,176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7863840" y="3474720"/>
            <a:ext cx="21945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909560" y="3520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$3,140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10058400" y="3474720"/>
            <a:ext cx="192024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1010412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$5,158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57200" y="3858768"/>
            <a:ext cx="3200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502920" y="39044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Biscits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3657600" y="3858768"/>
            <a:ext cx="822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3703320" y="39044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4480560" y="3858768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4526280" y="3904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5669280" y="3858768"/>
            <a:ext cx="2194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5715000" y="39044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$4,289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7863840" y="3858768"/>
            <a:ext cx="2194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7909560" y="39044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$6,444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10058400" y="3858768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10104120" y="39044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$5,367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457200" y="4242816"/>
            <a:ext cx="32004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502920" y="4288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EDX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3657600" y="4242816"/>
            <a:ext cx="8229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3703320" y="428853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4480560" y="4242816"/>
            <a:ext cx="118872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4526280" y="42885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5669280" y="4242816"/>
            <a:ext cx="21945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5715000" y="42885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$6,727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7863840" y="4242816"/>
            <a:ext cx="21945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7909560" y="42885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$9,476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10058400" y="4242816"/>
            <a:ext cx="192024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10104120" y="42885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$8,102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457200" y="4626864"/>
            <a:ext cx="3200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502920" y="46725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Marsh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3657600" y="4626864"/>
            <a:ext cx="822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3703320" y="467258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4480560" y="4626864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4526280" y="4672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5669280" y="4626864"/>
            <a:ext cx="2194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5715000" y="46725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$6,437</a:t>
            </a:r>
            <a:endParaRPr lang="en-US" sz="1100" dirty="0"/>
          </a:p>
        </p:txBody>
      </p:sp>
      <p:sp>
        <p:nvSpPr>
          <p:cNvPr id="105" name="Shape 103"/>
          <p:cNvSpPr/>
          <p:nvPr/>
        </p:nvSpPr>
        <p:spPr>
          <a:xfrm>
            <a:off x="7863840" y="4626864"/>
            <a:ext cx="2194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7909560" y="46725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$6,504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10058400" y="4626864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10104120" y="46725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$6,471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457200" y="5010912"/>
            <a:ext cx="320040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502920" y="5056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 Boots</a:t>
            </a:r>
            <a:endParaRPr lang="en-US" sz="1100" dirty="0"/>
          </a:p>
        </p:txBody>
      </p:sp>
      <p:sp>
        <p:nvSpPr>
          <p:cNvPr id="111" name="Shape 109"/>
          <p:cNvSpPr/>
          <p:nvPr/>
        </p:nvSpPr>
        <p:spPr>
          <a:xfrm>
            <a:off x="3657600" y="5010912"/>
            <a:ext cx="8229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3703320" y="50566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4480560" y="5010912"/>
            <a:ext cx="118872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4526280" y="5056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5669280" y="5010912"/>
            <a:ext cx="21945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 114"/>
          <p:cNvSpPr/>
          <p:nvPr/>
        </p:nvSpPr>
        <p:spPr>
          <a:xfrm>
            <a:off x="5715000" y="5056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$6,240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7863840" y="5010912"/>
            <a:ext cx="219456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7909560" y="50566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$6,477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10058400" y="5010912"/>
            <a:ext cx="1920240" cy="3657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10104120" y="5056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$6,359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457200" y="5394960"/>
            <a:ext cx="32004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502920" y="5440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Kasbo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3657600" y="5394960"/>
            <a:ext cx="8229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4" name="Text 122"/>
          <p:cNvSpPr/>
          <p:nvPr/>
        </p:nvSpPr>
        <p:spPr>
          <a:xfrm>
            <a:off x="3703320" y="5440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4480560" y="5394960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4526280" y="5440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5669280" y="5394960"/>
            <a:ext cx="2194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5715000" y="5440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$8,487</a:t>
            </a:r>
            <a:endParaRPr lang="en-US" sz="1100" dirty="0"/>
          </a:p>
        </p:txBody>
      </p:sp>
      <p:sp>
        <p:nvSpPr>
          <p:cNvPr id="129" name="Shape 127"/>
          <p:cNvSpPr/>
          <p:nvPr/>
        </p:nvSpPr>
        <p:spPr>
          <a:xfrm>
            <a:off x="7863840" y="5394960"/>
            <a:ext cx="2194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 128"/>
          <p:cNvSpPr/>
          <p:nvPr/>
        </p:nvSpPr>
        <p:spPr>
          <a:xfrm>
            <a:off x="7909560" y="5440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$5,997</a:t>
            </a:r>
            <a:endParaRPr lang="en-US" sz="1100" dirty="0"/>
          </a:p>
        </p:txBody>
      </p:sp>
      <p:sp>
        <p:nvSpPr>
          <p:cNvPr id="131" name="Shape 129"/>
          <p:cNvSpPr/>
          <p:nvPr/>
        </p:nvSpPr>
        <p:spPr>
          <a:xfrm>
            <a:off x="10058400" y="5394960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 130"/>
          <p:cNvSpPr/>
          <p:nvPr/>
        </p:nvSpPr>
        <p:spPr>
          <a:xfrm>
            <a:off x="10104120" y="5440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$7,242</a:t>
            </a:r>
            <a:endParaRPr lang="en-US" sz="1100" dirty="0"/>
          </a:p>
        </p:txBody>
      </p:sp>
      <p:sp>
        <p:nvSpPr>
          <p:cNvPr id="133" name="Text 131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These artists should be evaluated individually before rebooking. Low capacity rates may reflect poor fit with the venue's audience, weak marketing, or one-time circumstances.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&amp; Bottom Performing Shows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shows and largest gate losses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BY GROSS TICKET REVENUE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6733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/ Event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703320" y="16733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92040" y="16733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80760" y="16733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818120" y="16733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Rate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921240" y="16733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Ticket Rev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1115568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1993392"/>
            <a:ext cx="320040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03911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Might be Giants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0" y="1993392"/>
            <a:ext cx="118872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03320" y="20391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Majestic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1993392"/>
            <a:ext cx="118872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20391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1993392"/>
            <a:ext cx="17373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80760" y="20391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1,772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0" y="1993392"/>
            <a:ext cx="210312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818120" y="20391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875520" y="1993392"/>
            <a:ext cx="182880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921240" y="20391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$103,353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377440"/>
            <a:ext cx="3200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24231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Dogstar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0" y="2377440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703320" y="24231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Majestic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377440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92040" y="24231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0" y="2377440"/>
            <a:ext cx="1737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80760" y="24231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1,115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772400" y="2377440"/>
            <a:ext cx="21031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818120" y="24231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875520" y="2377440"/>
            <a:ext cx="1828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921240" y="24231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$82,908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2761488"/>
            <a:ext cx="320040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2920" y="28072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 Sex Party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0" y="2761488"/>
            <a:ext cx="118872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703320" y="28072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Majestic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2761488"/>
            <a:ext cx="118872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92040" y="28072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35040" y="2761488"/>
            <a:ext cx="17373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080760" y="28072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1,115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772400" y="2761488"/>
            <a:ext cx="210312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818120" y="280720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101%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875520" y="2761488"/>
            <a:ext cx="182880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921240" y="28072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$74,948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3145536"/>
            <a:ext cx="3200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02920" y="319125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Minus the Bear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657600" y="3145536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703320" y="31912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Majestic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846320" y="3145536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892040" y="31912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035040" y="3145536"/>
            <a:ext cx="1737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080760" y="3191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1,138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772400" y="3145536"/>
            <a:ext cx="21031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818120" y="31912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103%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875520" y="3145536"/>
            <a:ext cx="1828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9921240" y="31912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$74,600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" y="3529584"/>
            <a:ext cx="320040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02920" y="35753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JVKE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657600" y="3529584"/>
            <a:ext cx="118872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703320" y="35753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Majestic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846320" y="3529584"/>
            <a:ext cx="118872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892040" y="35753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2023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035040" y="3529584"/>
            <a:ext cx="173736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080760" y="35753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1,100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772400" y="3529584"/>
            <a:ext cx="210312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818120" y="35753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9875520" y="3529584"/>
            <a:ext cx="182880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9921240" y="357530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$69,720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57200" y="3977640"/>
            <a:ext cx="1115568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457200" y="404164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5 BY GATE SETTLEMENT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502920" y="43891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/ Event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3703320" y="43891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892040" y="43891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080760" y="4389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Rate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7635240" y="4389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Settlement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9738360" y="43891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Revenue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457200" y="4663440"/>
            <a:ext cx="1115568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457200" y="4709160"/>
            <a:ext cx="320040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502920" y="47548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ALY &amp; AJ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657600" y="4709160"/>
            <a:ext cx="118872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3703320" y="4754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Majestic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4846320" y="4709160"/>
            <a:ext cx="118872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4892040" y="4754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2025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6035040" y="4709160"/>
            <a:ext cx="155448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6080760" y="47548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7589520" y="4709160"/>
            <a:ext cx="210312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7635240" y="4754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$(19,408)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9692640" y="4709160"/>
            <a:ext cx="201168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9738360" y="47548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$7,678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457200" y="5056632"/>
            <a:ext cx="3200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502920" y="51023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Bayside (2 nights)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3657600" y="5056632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3703320" y="51023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Majestic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4846320" y="5056632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4892040" y="51023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2025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6035040" y="5056632"/>
            <a:ext cx="1554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6080760" y="51023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7589520" y="5056632"/>
            <a:ext cx="21031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7635240" y="51023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$(18,744)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9692640" y="5056632"/>
            <a:ext cx="2011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9738360" y="51023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$12,751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457200" y="5404104"/>
            <a:ext cx="320040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502920" y="544982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Rapture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3657600" y="5404104"/>
            <a:ext cx="118872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3703320" y="54498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Majestic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4846320" y="5404104"/>
            <a:ext cx="118872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4892040" y="544982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2025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6035040" y="5404104"/>
            <a:ext cx="155448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6080760" y="54498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000" dirty="0"/>
          </a:p>
        </p:txBody>
      </p:sp>
      <p:sp>
        <p:nvSpPr>
          <p:cNvPr id="114" name="Shape 112"/>
          <p:cNvSpPr/>
          <p:nvPr/>
        </p:nvSpPr>
        <p:spPr>
          <a:xfrm>
            <a:off x="7589520" y="5404104"/>
            <a:ext cx="210312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7635240" y="54498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$(17,865)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9692640" y="5404104"/>
            <a:ext cx="201168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9738360" y="54498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$3,014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457200" y="5751576"/>
            <a:ext cx="32004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502920" y="57972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Noah Cyrus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3657600" y="5751576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3703320" y="57972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Majestic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4846320" y="5751576"/>
            <a:ext cx="11887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4892040" y="57972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2025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6035040" y="5751576"/>
            <a:ext cx="1554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Text 123"/>
          <p:cNvSpPr/>
          <p:nvPr/>
        </p:nvSpPr>
        <p:spPr>
          <a:xfrm>
            <a:off x="6080760" y="57972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1000" dirty="0"/>
          </a:p>
        </p:txBody>
      </p:sp>
      <p:sp>
        <p:nvSpPr>
          <p:cNvPr id="126" name="Shape 124"/>
          <p:cNvSpPr/>
          <p:nvPr/>
        </p:nvSpPr>
        <p:spPr>
          <a:xfrm>
            <a:off x="7589520" y="5751576"/>
            <a:ext cx="21031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25"/>
          <p:cNvSpPr/>
          <p:nvPr/>
        </p:nvSpPr>
        <p:spPr>
          <a:xfrm>
            <a:off x="7635240" y="57972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$(17,084)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9692640" y="5751576"/>
            <a:ext cx="20116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Text 127"/>
          <p:cNvSpPr/>
          <p:nvPr/>
        </p:nvSpPr>
        <p:spPr>
          <a:xfrm>
            <a:off x="9738360" y="57972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$6,394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457200" y="6099048"/>
            <a:ext cx="320040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129"/>
          <p:cNvSpPr/>
          <p:nvPr/>
        </p:nvSpPr>
        <p:spPr>
          <a:xfrm>
            <a:off x="502920" y="614476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Xmas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3657600" y="6099048"/>
            <a:ext cx="118872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Text 131"/>
          <p:cNvSpPr/>
          <p:nvPr/>
        </p:nvSpPr>
        <p:spPr>
          <a:xfrm>
            <a:off x="3703320" y="6144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Majestic</a:t>
            </a:r>
            <a:endParaRPr lang="en-US" sz="1000" dirty="0"/>
          </a:p>
        </p:txBody>
      </p:sp>
      <p:sp>
        <p:nvSpPr>
          <p:cNvPr id="134" name="Shape 132"/>
          <p:cNvSpPr/>
          <p:nvPr/>
        </p:nvSpPr>
        <p:spPr>
          <a:xfrm>
            <a:off x="4846320" y="6099048"/>
            <a:ext cx="118872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133"/>
          <p:cNvSpPr/>
          <p:nvPr/>
        </p:nvSpPr>
        <p:spPr>
          <a:xfrm>
            <a:off x="4892040" y="6144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2023</a:t>
            </a:r>
            <a:endParaRPr lang="en-US" sz="1000" dirty="0"/>
          </a:p>
        </p:txBody>
      </p:sp>
      <p:sp>
        <p:nvSpPr>
          <p:cNvPr id="136" name="Shape 134"/>
          <p:cNvSpPr/>
          <p:nvPr/>
        </p:nvSpPr>
        <p:spPr>
          <a:xfrm>
            <a:off x="6035040" y="6099048"/>
            <a:ext cx="155448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6080760" y="61447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000" dirty="0"/>
          </a:p>
        </p:txBody>
      </p:sp>
      <p:sp>
        <p:nvSpPr>
          <p:cNvPr id="138" name="Shape 136"/>
          <p:cNvSpPr/>
          <p:nvPr/>
        </p:nvSpPr>
        <p:spPr>
          <a:xfrm>
            <a:off x="7589520" y="6099048"/>
            <a:ext cx="210312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Text 137"/>
          <p:cNvSpPr/>
          <p:nvPr/>
        </p:nvSpPr>
        <p:spPr>
          <a:xfrm>
            <a:off x="7635240" y="61447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$(15,629)</a:t>
            </a:r>
            <a:endParaRPr lang="en-US" sz="1000" dirty="0"/>
          </a:p>
        </p:txBody>
      </p:sp>
      <p:sp>
        <p:nvSpPr>
          <p:cNvPr id="140" name="Shape 138"/>
          <p:cNvSpPr/>
          <p:nvPr/>
        </p:nvSpPr>
        <p:spPr>
          <a:xfrm>
            <a:off x="9692640" y="6099048"/>
            <a:ext cx="2011680" cy="292608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 139"/>
          <p:cNvSpPr/>
          <p:nvPr/>
        </p:nvSpPr>
        <p:spPr>
          <a:xfrm>
            <a:off x="9738360" y="61447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$26,652</a:t>
            </a:r>
            <a:endParaRPr lang="en-US" sz="1000" dirty="0"/>
          </a:p>
        </p:txBody>
      </p:sp>
      <p:sp>
        <p:nvSpPr>
          <p:cNvPr id="142" name="Text 140"/>
          <p:cNvSpPr/>
          <p:nvPr/>
        </p:nvSpPr>
        <p:spPr>
          <a:xfrm>
            <a:off x="457200" y="653796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Black Xmas (Dec 2023) had 93% capacity and a $26,652 bar revenue despite a $(15,629) gate loss — highest bar revenue in the bottom-5, illustrating the bar-offset dynamic.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Strategic Implications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tells us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577840" cy="1600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356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143560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Stick nets more for MTC per show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856232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AEG split, Magic Stick generates ~61% more gross proceeds per show ($9,283 vs $5,755). After a 28% bar cost estimate, Magic Stick still leads by ~23%. Both models have distinct advantages — AEG brings booking infrastructure; in-house retains full margin.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0" y="1325880"/>
            <a:ext cx="5577840" cy="1600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46520" y="14356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086600" y="143560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revenue is the profitability safety net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46520" y="1856232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both venues, bar revenue covers average gate losses on loss-making shows. Magic Stick's cushion is larger (bar = 2.3x gate loss). Pop is the only genre where bar does not cover losses.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5577840" cy="1600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1729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317296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Festival is a structural revenue outlier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593592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weekend averages 101% capacity, $36,764 ticket revenue, and $16,352 bar revenue — roughly double annual averages. Paxahau's partnership is critical to Magic Stick's annual budget.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3063240"/>
            <a:ext cx="5577840" cy="1600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46520" y="31729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086600" y="317296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Majestic shows a stronger post-COVID growth trajectory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3593592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Majestic capacity rates hit 82% in 2026 vs 61% in 2019. Ticket revenue up 94%. AEG enables consistent midweek programming that Magic Stick cannot match at scale.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800600"/>
            <a:ext cx="5577840" cy="1600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49103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34440" y="491032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Electronic/Dance dominates Magic Stick — Hip-Hop fills rooms best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5330952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of Magic Stick shows are Electronic/Dance, but Hip-Hop/R&amp;B has the highest avg capacity rate (67%). Electronic has the highest gate loss rate (51.9%) but strong bar offset.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4800600"/>
            <a:ext cx="5577840" cy="16002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46520" y="49103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086600" y="491032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does not track demand — opportunity exists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5330952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strong relationship between ticket price and capacity rate across either venue. High-confidence shows may be underpriced. Pricing strategy could be improved using advance ticket velocity as a demand signal.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sources, limitations, and what's coming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303520" cy="521208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845 shows from internal MTC spreadsheets (2019, 2022–2026)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35915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Magic Stick capacity standardized to 775 across all years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889504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Multi-night shows split into individual show-night rows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419856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Genre tags assigned manually to all 767 unique artists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95020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28% bar COGS/labor estimate applied to Magic Stick to match Majestic's documented cost rate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448056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AEG split: Majestic keeps 50% of gate + 70% of bar; AEG receives 50% gate + 30% bar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501091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Movement Festival = Memorial Day weekend (Fri–Mon) per exact calendar calculation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5541264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"Show Gross Proceeds" is pre-COGS, labor, and facility costs per source sheet labeling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325880"/>
            <a:ext cx="5669280" cy="242316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7220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1828800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actual COGS/labor data for Magic Stick — 28% is an estimate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72200" y="2304288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2019 Magic Stick promoter codes use a different legend (excluded from promoter analysis)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779776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2026 data is partial through May — year averages may not be representative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72200" y="3255264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 show (Thursday, 2024) missing date due to source data entry error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3886200"/>
            <a:ext cx="5669280" cy="260604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72200" y="3977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72200" y="43891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Phase 2: Industry benchmarking vs. Pollstar / NIVA / Billboard Boxscore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72200" y="479145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Phase 3: Predictive model (XGBoost / Random Forest) validated against Summer 2026 live shows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72200" y="519379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Pricing strategy model — identify underpriced high-demand bookings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72200" y="559612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Repeat artist analysis — do returning artists improve over time?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599846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Published write-up on Medium / Substack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2273</Words>
  <Application>Microsoft Macintosh PowerPoint</Application>
  <PresentationFormat>Widescreen</PresentationFormat>
  <Paragraphs>496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Zainea, Simon</cp:lastModifiedBy>
  <cp:revision>3</cp:revision>
  <dcterms:created xsi:type="dcterms:W3CDTF">2026-07-14T14:01:15Z</dcterms:created>
  <dcterms:modified xsi:type="dcterms:W3CDTF">2026-07-14T14:20:23Z</dcterms:modified>
</cp:coreProperties>
</file>